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CCD6"/>
                </a:solidFill>
                <a:latin typeface="Courier New"/>
              </a:rPr>
              <a:t>HORIZON AUTO INSURANCE · SOLUTION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61848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Catch driving risk </a:t>
            </a:r>
            <a:r>
              <a:rPr sz="4200" b="1">
                <a:solidFill>
                  <a:srgbClr val="FF3621"/>
                </a:solidFill>
                <a:latin typeface="Arial"/>
              </a:rPr>
              <a:t>before</a:t>
            </a:r>
            <a:r>
              <a:rPr sz="4200" b="1">
                <a:solidFill>
                  <a:srgbClr val="FFFFFF"/>
                </a:solidFill>
                <a:latin typeface="Arial"/>
              </a:rPr>
              <a:t> it becomes a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325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EEEDE9"/>
                </a:solidFill>
                <a:latin typeface="Arial"/>
              </a:rPr>
              <a:t>Proactive prevention and human-approved renewal decisions on one governed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818120"/>
            <a:ext cx="5303520" cy="4572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092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4CCD6"/>
                </a:solidFill>
                <a:latin typeface="Courier New"/>
              </a:rPr>
              <a:t>BUSINESS → WORKFLOW → TECHNICAL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64108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Horizon Auto 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0982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4CCD6"/>
                </a:solidFill>
                <a:latin typeface="Arial"/>
              </a:rPr>
              <a:t>Databricks solution narrative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Risk changes between portfolio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Horizon often learns about worsening behavior after the loss signal becomes a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515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3621"/>
                </a:solidFill>
                <a:latin typeface="Arial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127248"/>
            <a:ext cx="87782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B2026"/>
                </a:solidFill>
                <a:latin typeface="Arial"/>
              </a:rPr>
              <a:t>My underwriters can explain yesterday’s book. They cannot see which drivers became riskier this week — or intervene before renewal.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A5755"/>
                </a:solidFill>
                <a:latin typeface="Arial"/>
              </a:rPr>
              <a:t>Maya Chen · Regional Underwriting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58600" y="2651760"/>
            <a:ext cx="5897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78640" y="294436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0" y="2898648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Late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6072" y="3520439"/>
            <a:ext cx="52029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Periodic review reveals unsafe trends after exposure has accumulated.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58600" y="4434840"/>
            <a:ext cx="5897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0" y="47274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0" y="4681727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Fragmented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6072" y="5303520"/>
            <a:ext cx="52029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Telemetry, claims, guidelines, and policy state sit in separate workflows.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658600" y="6217920"/>
            <a:ext cx="58978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40" y="651052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0" y="6464808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Hard to defend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6072" y="7086600"/>
            <a:ext cx="52029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Manual recommendations lack a consistent explanation and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THE QUANTIFIED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The cost of waiting is operational and financial.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Prototype targets shown here are modeled outcomes, not realized customer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977639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999232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LESS REVIEW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328416"/>
            <a:ext cx="339242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3621"/>
                </a:solidFill>
                <a:latin typeface="Arial"/>
              </a:rP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005072"/>
            <a:ext cx="33924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755"/>
                </a:solidFill>
                <a:latin typeface="Arial"/>
              </a:rPr>
              <a:t>Prioritize the policies that need judgment.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912" y="2743200"/>
            <a:ext cx="3977639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999232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INTERVENED IN ONE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328416"/>
            <a:ext cx="339242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026"/>
                </a:solidFill>
                <a:latin typeface="Arial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005072"/>
            <a:ext cx="33924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755"/>
                </a:solidFill>
                <a:latin typeface="Arial"/>
              </a:rPr>
              <a:t>Reach high-risk policies while action can still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0304" y="2743200"/>
            <a:ext cx="3977639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2999232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PREVENTABLE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3328416"/>
            <a:ext cx="339242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026"/>
                </a:solidFill>
                <a:latin typeface="Arial"/>
              </a:rPr>
              <a:t>−5%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4005072"/>
            <a:ext cx="33924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755"/>
                </a:solidFill>
                <a:latin typeface="Arial"/>
              </a:rPr>
              <a:t>Modeled reduction through earlier intervention.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69696" y="2743200"/>
            <a:ext cx="3977639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62304" y="2999232"/>
            <a:ext cx="3392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LOSS-RATIO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62304" y="3328416"/>
            <a:ext cx="339242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B2026"/>
                </a:solidFill>
                <a:latin typeface="Arial"/>
              </a:rPr>
              <a:t>+2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62304" y="4005072"/>
            <a:ext cx="33924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5755"/>
                </a:solidFill>
                <a:latin typeface="Arial"/>
              </a:rPr>
              <a:t>Modeled portfolio impact from better timing.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66360"/>
            <a:ext cx="16815816" cy="2514600"/>
          </a:xfrm>
          <a:prstGeom prst="roundRect">
            <a:avLst>
              <a:gd name="adj" fmla="val 8000"/>
            </a:avLst>
          </a:prstGeom>
          <a:solidFill>
            <a:srgbClr val="0B2026"/>
          </a:solidFill>
          <a:ln>
            <a:solidFill>
              <a:srgbClr val="0B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532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4CCD6"/>
                </a:solidFill>
                <a:latin typeface="Courier New"/>
              </a:rPr>
              <a:t>THE DECISION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172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Unsafe behavior rises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61081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6172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Risk is scored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61081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6172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Underwriter intervenes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86032" y="610819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90120" y="61722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Renewal is decided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6903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EEDE9"/>
                </a:solidFill>
                <a:latin typeface="Arial"/>
              </a:rPr>
              <a:t>The platform compresses the path from signal to governed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THE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Detect → explain → recommend → decide → audit.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solution changes the underwriter’s workflow without automating the final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063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1272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081528"/>
            <a:ext cx="182879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03320"/>
            <a:ext cx="2368296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Hourly telemetry updates expose worsening driving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1336" y="40690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8" y="2834640"/>
            <a:ext cx="3063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31272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08152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2368296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model and Genie surface the factors and governed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2904" y="40690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34656" y="2834640"/>
            <a:ext cx="3063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4696" y="31272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3081528"/>
            <a:ext cx="182879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Recommend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3703320"/>
            <a:ext cx="2368296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Rules translate risk into an intervention and renewal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472" y="40690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36224" y="2834640"/>
            <a:ext cx="3063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56264" y="31272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96344" y="3081528"/>
            <a:ext cx="182879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83696" y="3703320"/>
            <a:ext cx="2368296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underwriter approves or overrides with a required reason.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36040" y="40690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337792" y="2834640"/>
            <a:ext cx="3063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57832" y="31272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97912" y="3081528"/>
            <a:ext cx="1828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85264" y="3703320"/>
            <a:ext cx="2368296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Every question, recommendation, and decision is recorded.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812280"/>
            <a:ext cx="16815816" cy="1005840"/>
          </a:xfrm>
          <a:prstGeom prst="roundRect">
            <a:avLst>
              <a:gd name="adj" fmla="val 8000"/>
            </a:avLst>
          </a:prstGeom>
          <a:solidFill>
            <a:srgbClr val="EEEDE9"/>
          </a:solidFill>
          <a:ln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71140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3621"/>
                </a:solidFill>
                <a:latin typeface="Courier New"/>
              </a:rPr>
              <a:t>CONTROL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7059168"/>
            <a:ext cx="1353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The model scores risk. Deterministic rules recommend. A human underwriter decides.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Four levers connect the workflow to business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240280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59" y="2240280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WHAT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2832" y="224028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MODELED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11912" y="2240280"/>
            <a:ext cx="4434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A5755"/>
                </a:solidFill>
                <a:latin typeface="Courier New"/>
              </a:rPr>
              <a:t>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168158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035808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035808"/>
            <a:ext cx="4599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Intervene before renewal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3035808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5% fewer preventable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11912" y="3035808"/>
            <a:ext cx="4389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Human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87368"/>
            <a:ext cx="168158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361688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4361688"/>
            <a:ext cx="4599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One prioritized evidence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4361688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40% less review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11912" y="4361688"/>
            <a:ext cx="4389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Same governed 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13248"/>
            <a:ext cx="168158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687568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687568"/>
            <a:ext cx="4599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Reward sustained safe behavior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5687568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3% modeled 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11912" y="5687568"/>
            <a:ext cx="4389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Approved program terms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739127"/>
            <a:ext cx="16815816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7013447"/>
            <a:ext cx="28072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59" y="7013447"/>
            <a:ext cx="45994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Explain and record every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7013447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100% audited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11912" y="7013447"/>
            <a:ext cx="43891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Identity-aware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WHY DATABRICKS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One platform keeps data, intelligence, action, and audit aligned.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No separate analytics copy, app database workflow, or AI control plane to reconcile.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578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358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990088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One governed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611880"/>
            <a:ext cx="4562856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5755"/>
                </a:solidFill>
                <a:latin typeface="Arial"/>
              </a:rPr>
              <a:t>Delta tables, a metric view, Genie, and the application resolve against the same policy-risk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0528" y="2743200"/>
            <a:ext cx="52578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30358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2990088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Operational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11880"/>
            <a:ext cx="4562856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5755"/>
                </a:solidFill>
                <a:latin typeface="Arial"/>
              </a:rPr>
              <a:t>Lakebase sync serves policy queues and decisions in milliseconds while Delta remains the analytical source of truth.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289536" y="2743200"/>
            <a:ext cx="525780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09576" y="30358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49656" y="2990088"/>
            <a:ext cx="40233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Built-in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37008" y="3611880"/>
            <a:ext cx="4562856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5755"/>
                </a:solidFill>
                <a:latin typeface="Arial"/>
              </a:rPr>
              <a:t>Unity Catalog, AI Gateway, MLflow, lineage, and app identity make access and model use observable.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452360"/>
            <a:ext cx="1463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B2026"/>
                </a:solidFill>
                <a:latin typeface="Arial"/>
              </a:rPr>
              <a:t>The architecture is simpler because governance is shared, not copied.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SOLUTION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Three milestones turn data into a governed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5230368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16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B5162"/>
                </a:solidFill>
                <a:latin typeface="Arial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92608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GOVERNED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Ingest policy and telematics files
Build trusted features
Score claim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49224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5162"/>
                </a:solidFill>
                <a:latin typeface="Courier New"/>
              </a:rPr>
              <a:t>Lakeflow · Delta · MLflow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452628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2468880"/>
            <a:ext cx="5230368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2816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3621"/>
                </a:solidFill>
                <a:latin typeface="Arial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92608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UNDERWRITER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3840480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Prioritize the review queue
Investigate with Genie
Approve or override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649224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3621"/>
                </a:solidFill>
                <a:latin typeface="Courier New"/>
              </a:rPr>
              <a:t>Databricks App · Genie · Lakebase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452628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06656" y="2468880"/>
            <a:ext cx="5230368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72416" y="2816352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B2026"/>
                </a:solidFill>
                <a:latin typeface="Arial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95376" y="2926080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AUDITABLE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2416" y="3840480"/>
            <a:ext cx="4434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Apply user-level entitlements
Trace model and agent calls
Persist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2416" y="649224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2026"/>
                </a:solidFill>
                <a:latin typeface="Courier New"/>
              </a:rPr>
              <a:t>Unity Catalog · AI Gateway · Lakebase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CCD6"/>
                </a:solidFill>
                <a:latin typeface="Courier New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627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Watch one policy move from signal to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See the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CCD6"/>
                </a:solidFill>
                <a:latin typeface="Arial"/>
              </a:rPr>
              <a:t>Open the West-region review queue and portfolio KPIs.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3703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971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6576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Inspect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4348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CCD6"/>
                </a:solidFill>
                <a:latin typeface="Arial"/>
              </a:rPr>
              <a:t>Open the policy, risk factors, trend, and expected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703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71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576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Ask 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4348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CCD6"/>
                </a:solidFill>
                <a:latin typeface="Arial"/>
              </a:rPr>
              <a:t>Genie queries governed data and cites underwriting guidelines.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3703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2971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36576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Make the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44348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CCD6"/>
                </a:solidFill>
                <a:latin typeface="Arial"/>
              </a:rPr>
              <a:t>Approve the recommendation or override with a reason.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0" y="37033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60" y="29718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0" y="36576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Prove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0" y="44348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4CCD6"/>
                </a:solidFill>
                <a:latin typeface="Arial"/>
              </a:rPr>
              <a:t>Decision history and audit events update immediately.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7452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CCD6"/>
                </a:solidFill>
                <a:latin typeface="Courier New"/>
              </a:rPr>
              <a:t>Demo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7909560"/>
            <a:ext cx="1572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“Why is policy POL-004217 becoming riskier, and what should we do before renewal?”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C4CCD6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One decision contract connects analytics and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app, metric view, and Genie show the same risk band, action, and expected loss.</a:t>
            </a:r>
          </a:p>
        </p:txBody>
      </p:sp>
      <p:pic>
        <p:nvPicPr>
          <p:cNvPr id="5" name="Picture 4" descr="horizon-data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23160"/>
            <a:ext cx="16367759" cy="6492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DATA ENGINEERING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Incremental by design, reconciled by contract.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Lakeflow handles continuous files and keyed corrections without rebuilding the entire portfolio.</a:t>
            </a:r>
          </a:p>
        </p:txBody>
      </p:sp>
      <p:pic>
        <p:nvPicPr>
          <p:cNvPr id="5" name="Picture 4" descr="horizon-pipeline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10881360" cy="6263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070080" y="242316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90119" y="271576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0200" y="2670048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17552" y="3291839"/>
            <a:ext cx="4745736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Auto Loader preserves lineage, manifests, rescued data, and event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70080" y="41148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90119" y="44074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361688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17552" y="4983480"/>
            <a:ext cx="4745736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Auto CDC applies snapshots and keyed corrections with data-quality expectations.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580644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90119" y="609904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0200" y="6053327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17552" y="6675120"/>
            <a:ext cx="4745736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Materialized views produce stable policy features and review candidates.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7498079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90119" y="779068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30200" y="7744967"/>
            <a:ext cx="4206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After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17552" y="8366759"/>
            <a:ext cx="4745736" cy="118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Score → decide → sync to Lakebase.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ML AND DECISIONING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Separate prediction, business rules, and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Each layer has a distinct purpose, owner, and audit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2303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3621"/>
                </a:solidFill>
                <a:latin typeface="Courier New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Predict claim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5755"/>
                </a:solidFill>
                <a:latin typeface="Arial"/>
              </a:rPr>
              <a:t>Interpretable features
Probability and drivers
MLflow registry + aliases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457200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2743200"/>
            <a:ext cx="52303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30632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755"/>
                </a:solidFill>
                <a:latin typeface="Courier New"/>
              </a:rPr>
              <a:t>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6576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Recommend an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457200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5755"/>
                </a:solidFill>
                <a:latin typeface="Arial"/>
              </a:rPr>
              <a:t>Risk band thresholds
Expected loss
Approved intervention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4572000"/>
            <a:ext cx="320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3621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06656" y="2743200"/>
            <a:ext cx="52303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72416" y="306324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755"/>
                </a:solidFill>
                <a:latin typeface="Courier New"/>
              </a:rPr>
              <a:t>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2416" y="365760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Record the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2416" y="457200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5755"/>
                </a:solidFill>
                <a:latin typeface="Arial"/>
              </a:rPr>
              <a:t>Approve or override
Required rationale
Reviewer identity + timestamp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7726679"/>
            <a:ext cx="16815816" cy="731520"/>
          </a:xfrm>
          <a:prstGeom prst="roundRect">
            <a:avLst>
              <a:gd name="adj" fmla="val 8000"/>
            </a:avLst>
          </a:prstGeom>
          <a:solidFill>
            <a:srgbClr val="EEEDE9"/>
          </a:solidFill>
          <a:ln>
            <a:solidFill>
              <a:srgbClr val="EE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936992"/>
            <a:ext cx="1554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026"/>
                </a:solidFill>
                <a:latin typeface="Arial"/>
              </a:rPr>
              <a:t>No autonomous premium change. The platform supports a governed underwriting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APPLICATION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Fast reads, governed investigation, human-only writes.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signed-in user’s identity travels through the application and analytics layers.</a:t>
            </a:r>
          </a:p>
        </p:txBody>
      </p:sp>
      <p:pic>
        <p:nvPicPr>
          <p:cNvPr id="5" name="Picture 4" descr="horizon-runtime-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11338560" cy="6629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527280" y="2514600"/>
            <a:ext cx="4983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47319" y="28072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87400" y="2761488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74752" y="3383280"/>
            <a:ext cx="42885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Lakebase serves queues, evidence, and history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4343400"/>
            <a:ext cx="4983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47319" y="46360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400" y="4590288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74752" y="5212080"/>
            <a:ext cx="42885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Genie runs governed SQL and searches approved guidelines with citations.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27280" y="6172200"/>
            <a:ext cx="49834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47319" y="64648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87400" y="6419088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2026"/>
                </a:solidFill>
                <a:latin typeface="Arial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74752" y="7040880"/>
            <a:ext cx="4288536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755"/>
                </a:solidFill>
                <a:latin typeface="Arial"/>
              </a:rPr>
              <a:t>Only the underwriter writes a decision; every action emits an audit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GOVERNANCE AND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Governance follows the user from table to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8072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761488"/>
            <a:ext cx="3995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3832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Unity Catalog ABAC masks customer names and filters policies by assigned region.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9088" y="25146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7" y="28072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9208" y="2761488"/>
            <a:ext cx="39959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Lineage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33832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Raw telemetry, features, scores, recommendations, and metrics remain traceable.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06656" y="25146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26696" y="28072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66776" y="2761488"/>
            <a:ext cx="39959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4128" y="33832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Unity AI Gateway governs model access; Genie cites SQL and guideline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504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504688"/>
            <a:ext cx="39959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61264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Lakebase stores review state, decisions, overrides, and question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52578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7" y="55504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5504688"/>
            <a:ext cx="39959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61264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Pipeline expectations fail on orphaned keys and quarantine malformed events.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06656" y="5257800"/>
            <a:ext cx="523036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26696" y="555040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66776" y="5504688"/>
            <a:ext cx="3995927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Fairness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54128" y="6126480"/>
            <a:ext cx="453542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The model excludes direct PII and supports monitored comparison-group analysis.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TECHNOLOGY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Each Databricks service has one clear job.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560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Lakeflow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2560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Ingest files, apply CDC, enforce quality, build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331720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25603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Delta Lake + Unity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0" y="2560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Store governed data, permissions, lineage, and model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79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MLflow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6907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Track training, register the model, manage production aliases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3840479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069079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Metric views + Genie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406907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Define shared KPIs and answer governed natural-language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57784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Lakebase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55778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Serve low-latency app reads and persist operational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5349240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557784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Databricks Apps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0" y="55778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Deliver the underwriter workflow with user identity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857999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7086599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Unity AI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708659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Control and observe model endpoint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6857999"/>
            <a:ext cx="8092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7086599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Declarative Automation Bundles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0" y="7086599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755"/>
                </a:solidFill>
                <a:latin typeface="Arial"/>
              </a:rPr>
              <a:t>Deploy jobs, pipelines, warehouse, app, and permissions as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PILOT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664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0B2026"/>
                </a:solidFill>
                <a:latin typeface="Arial"/>
              </a:rPr>
              <a:t>Pilot the workflow before scaling the 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645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Use the synthetic prototype to validate operations, controls, and value measurement.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23036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9260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86200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One region
One renewal cohort
Shadow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61264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B5162"/>
                </a:solidFill>
                <a:latin typeface="Courier New"/>
              </a:rPr>
              <a:t>2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2651760"/>
            <a:ext cx="523036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9260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3886200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Named underwriters
Daily review queue
Weekly control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61264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B5162"/>
                </a:solidFill>
                <a:latin typeface="Courier New"/>
              </a:rPr>
              <a:t>4–6 WEEKS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06656" y="2651760"/>
            <a:ext cx="5230368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54128" y="2971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58216" y="29260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B2026"/>
                </a:solidFill>
                <a:latin typeface="Arial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54128" y="3886200"/>
            <a:ext cx="4297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More regions
Champion/challenger model
Outcome feedback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4128" y="61264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B5162"/>
                </a:solidFill>
                <a:latin typeface="Courier New"/>
              </a:rPr>
              <a:t>AFTER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452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A5755"/>
                </a:solidFill>
                <a:latin typeface="Courier New"/>
              </a:rPr>
              <a:t>Exit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7388352"/>
            <a:ext cx="1463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B2026"/>
                </a:solidFill>
                <a:latin typeface="Arial"/>
              </a:rPr>
              <a:t>Data quality holds · recommendations are explainable · entitlements match policy · underwriters trust the workflow · outcome metrics are measurable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980236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HORIZON AUTO INSURANCE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62120" y="98023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5755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CCD6"/>
                </a:solidFill>
                <a:latin typeface="Courier New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618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Put earlier risk signals in the hands of underwriters.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926080"/>
            <a:ext cx="5166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1868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3621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17296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Choose the 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794760"/>
            <a:ext cx="4471416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Select one region and renewal window where earlier intervention can be observed.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926080"/>
            <a:ext cx="5166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21868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317296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Agree on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3794760"/>
            <a:ext cx="4471416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Confirm rating boundaries, program terms, entitlements, and audit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52960" y="2926080"/>
            <a:ext cx="516636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73000" y="3218688"/>
            <a:ext cx="594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5162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13080" y="317296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B2026"/>
                </a:solidFill>
                <a:latin typeface="Arial"/>
              </a:rPr>
              <a:t>Measure the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432" y="3794760"/>
            <a:ext cx="4471416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5755"/>
                </a:solidFill>
                <a:latin typeface="Arial"/>
              </a:rPr>
              <a:t>Track review time, intervention coverage, overrides, retention, and modeled loss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7635240"/>
            <a:ext cx="1600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One governed platform. One shared decision contract. One human accountable for the outcome.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92354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4CCD6"/>
                </a:solidFill>
                <a:latin typeface="Courier New"/>
              </a:rPr>
              <a:t>Horizon Auto Insurance · Databricks solution narrative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Auto Insurance — proactive risk prevention and renewal decisioning</dc:title>
  <dc:subject>Business value, solution flow, and Databricks technical architecture</dc:subject>
  <dc:creator>Databricks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